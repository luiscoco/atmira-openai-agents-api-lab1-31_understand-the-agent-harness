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keaway" id="{26ff789f-e894-ed13-808e-9e037a953b1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takeaway: options make a query controllable.
Options turn a basic prompt into a configurable agent run. They let you select a model, guide behavior with a system prompt, control the number of turns, set a budget, and choose the streaming experience. Start with the defaults, add options deliberately, and always expose the final result data so you can understand the cost, duration, and outcome of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akeaway 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320040"/>
            <a:ext cx="8229600" cy="27432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457200" y="594360"/>
            <a:ext cx="8229600" cy="594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457200" y="1216152"/>
            <a:ext cx="8229600" cy="36576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320040"/>
            <a:ext cx="82296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LESSON TAKEAWAY</a:t>
            </a:r>
            <a:endParaRPr lang="en-US" sz="1200" dirty="0"/>
          </a:p>
        </p:txBody>
      </p:sp>
      <p:sp>
        <p:nvSpPr>
          <p:cNvPr id="3" name="Text 0"/>
          <p:cNvSpPr/>
          <p:nvPr>
            <p:ph idx="101" type="title" hasCustomPrompt="1"/>
          </p:nvPr>
        </p:nvSpPr>
        <p:spPr>
          <a:xfrm>
            <a:off x="457200" y="594360"/>
            <a:ext cx="8229600" cy="594360"/>
          </a:xfrm>
          <a:prstGeom prst="rect">
            <a:avLst/>
          </a:prstGeom>
          <a:noFill/>
          <a:ln/>
        </p:spPr>
        <p:txBody>
          <a:bodyPr wrap="square" lIns="0" tIns="0" rIns="0" bIns="0" rtlCol="0" anchor="ctr"/>
          <a:lstStyle/>
          <a:p>
            <a:pPr algn="l" indent="0" marL="0">
              <a:buNone/>
            </a:pPr>
            <a:r>
              <a:rPr lang="en-US" sz="3600" b="1" dirty="0">
                <a:solidFill>
                  <a:schemeClr val="bg1"/>
                </a:solidFill>
              </a:rPr>
              <a:t>Options make a query controllable</a:t>
            </a:r>
            <a:endParaRPr lang="en-US" sz="3600" dirty="0"/>
          </a:p>
        </p:txBody>
      </p:sp>
      <p:sp>
        <p:nvSpPr>
          <p:cNvPr id="4" name="Text 0"/>
          <p:cNvSpPr/>
          <p:nvPr>
            <p:ph idx="102" type="body" hasCustomPrompt="1"/>
          </p:nvPr>
        </p:nvSpPr>
        <p:spPr>
          <a:xfrm>
            <a:off x="457200" y="1216152"/>
            <a:ext cx="8229600" cy="365760"/>
          </a:xfrm>
          <a:prstGeom prst="rect">
            <a:avLst/>
          </a:prstGeom>
          <a:noFill/>
          <a:ln/>
        </p:spPr>
        <p:txBody>
          <a:bodyPr wrap="square" lIns="0" tIns="0" rIns="0" bIns="0" rtlCol="0" anchor="t"/>
          <a:lstStyle/>
          <a:p>
            <a:pPr indent="0" marL="0">
              <a:buNone/>
            </a:pPr>
            <a:r>
              <a:rPr lang="en-US" sz="1600" dirty="0">
                <a:solidFill>
                  <a:schemeClr val="bg2"/>
                </a:solidFill>
              </a:rPr>
              <a:t>They turn a basic prompt into a configurable agent run.</a:t>
            </a:r>
            <a:endParaRPr lang="en-US" sz="1600" dirty="0"/>
          </a:p>
        </p:txBody>
      </p:sp>
      <p:sp>
        <p:nvSpPr>
          <p:cNvPr id="5" name="Option card 1"/>
          <p:cNvSpPr/>
          <p:nvPr/>
        </p:nvSpPr>
        <p:spPr>
          <a:xfrm>
            <a:off x="457200" y="1783080"/>
            <a:ext cx="1499616" cy="1463040"/>
          </a:xfrm>
          <a:prstGeom prst="roundRect">
            <a:avLst>
              <a:gd name="adj" fmla="val 5000"/>
            </a:avLst>
          </a:prstGeom>
          <a:solidFill>
            <a:schemeClr val="tx2"/>
          </a:solidFill>
          <a:ln/>
        </p:spPr>
      </p:sp>
      <p:sp>
        <p:nvSpPr>
          <p:cNvPr id="6" name="Option icon bg 1"/>
          <p:cNvSpPr/>
          <p:nvPr/>
        </p:nvSpPr>
        <p:spPr>
          <a:xfrm>
            <a:off x="621792" y="1947672"/>
            <a:ext cx="420624" cy="420624"/>
          </a:xfrm>
          <a:prstGeom prst="ellipse">
            <a:avLst/>
          </a:prstGeom>
          <a:solidFill>
            <a:schemeClr val="accent1"/>
          </a:solidFill>
          <a:ln/>
        </p:spPr>
      </p:sp>
      <p:pic>
        <p:nvPicPr>
          <p:cNvPr id="7" name="Option icon 1" descr="Model">    </p:cNvPr>
          <p:cNvPicPr>
            <a:picLocks noChangeAspect="1"/>
          </p:cNvPicPr>
          <p:nvPr/>
        </p:nvPicPr>
        <p:blipFill>
          <a:blip r:embed="rId1"/>
          <a:stretch>
            <a:fillRect/>
          </a:stretch>
        </p:blipFill>
        <p:spPr>
          <a:xfrm>
            <a:off x="722376" y="2048256"/>
            <a:ext cx="219456" cy="219456"/>
          </a:xfrm>
          <a:prstGeom prst="rect">
            <a:avLst/>
          </a:prstGeom>
        </p:spPr>
      </p:pic>
      <p:sp>
        <p:nvSpPr>
          <p:cNvPr id="8" name="Option label 1"/>
          <p:cNvSpPr txBox="1"/>
          <p:nvPr/>
        </p:nvSpPr>
        <p:spPr>
          <a:xfrm>
            <a:off x="621792" y="2468880"/>
            <a:ext cx="1225296" cy="274320"/>
          </a:xfrm>
          <a:prstGeom prst="rect">
            <a:avLst/>
          </a:prstGeom>
          <a:noFill/>
          <a:ln/>
        </p:spPr>
        <p:txBody>
          <a:bodyPr wrap="square" lIns="0" tIns="0" rIns="0" bIns="0" rtlCol="0" anchor="t"/>
          <a:lstStyle/>
          <a:p>
            <a:pPr indent="0" marL="0">
              <a:buNone/>
            </a:pPr>
            <a:r>
              <a:rPr lang="en-US" sz="1500" b="1" dirty="0">
                <a:solidFill>
                  <a:schemeClr val="bg1"/>
                </a:solidFill>
              </a:rPr>
              <a:t>Model</a:t>
            </a:r>
            <a:endParaRPr lang="en-US" sz="1500" dirty="0"/>
          </a:p>
        </p:txBody>
      </p:sp>
      <p:sp>
        <p:nvSpPr>
          <p:cNvPr id="9" name="Option caption 1"/>
          <p:cNvSpPr txBox="1"/>
          <p:nvPr/>
        </p:nvSpPr>
        <p:spPr>
          <a:xfrm>
            <a:off x="621792" y="2743200"/>
            <a:ext cx="1225296" cy="411480"/>
          </a:xfrm>
          <a:prstGeom prst="rect">
            <a:avLst/>
          </a:prstGeom>
          <a:noFill/>
          <a:ln/>
        </p:spPr>
        <p:txBody>
          <a:bodyPr wrap="square" lIns="0" tIns="0" rIns="0" bIns="0" rtlCol="0" anchor="t"/>
          <a:lstStyle/>
          <a:p>
            <a:pPr indent="0" marL="0">
              <a:buNone/>
            </a:pPr>
            <a:r>
              <a:rPr lang="en-US" sz="1100" dirty="0">
                <a:solidFill>
                  <a:schemeClr val="bg2"/>
                </a:solidFill>
              </a:rPr>
              <a:t>Select which model runs the query</a:t>
            </a:r>
            <a:endParaRPr lang="en-US" sz="1100" dirty="0"/>
          </a:p>
        </p:txBody>
      </p:sp>
      <p:sp>
        <p:nvSpPr>
          <p:cNvPr id="10" name="Option card 2"/>
          <p:cNvSpPr/>
          <p:nvPr/>
        </p:nvSpPr>
        <p:spPr>
          <a:xfrm>
            <a:off x="2139696" y="1783080"/>
            <a:ext cx="1499616" cy="1463040"/>
          </a:xfrm>
          <a:prstGeom prst="roundRect">
            <a:avLst>
              <a:gd name="adj" fmla="val 5000"/>
            </a:avLst>
          </a:prstGeom>
          <a:solidFill>
            <a:schemeClr val="tx2"/>
          </a:solidFill>
          <a:ln/>
        </p:spPr>
      </p:sp>
      <p:sp>
        <p:nvSpPr>
          <p:cNvPr id="11" name="Option icon bg 2"/>
          <p:cNvSpPr/>
          <p:nvPr/>
        </p:nvSpPr>
        <p:spPr>
          <a:xfrm>
            <a:off x="2304288" y="1947672"/>
            <a:ext cx="420624" cy="420624"/>
          </a:xfrm>
          <a:prstGeom prst="ellipse">
            <a:avLst/>
          </a:prstGeom>
          <a:solidFill>
            <a:schemeClr val="accent1"/>
          </a:solidFill>
          <a:ln/>
        </p:spPr>
      </p:sp>
      <p:pic>
        <p:nvPicPr>
          <p:cNvPr id="12" name="Option icon 2" descr="System prompt">    </p:cNvPr>
          <p:cNvPicPr>
            <a:picLocks noChangeAspect="1"/>
          </p:cNvPicPr>
          <p:nvPr/>
        </p:nvPicPr>
        <p:blipFill>
          <a:blip r:embed="rId2"/>
          <a:stretch>
            <a:fillRect/>
          </a:stretch>
        </p:blipFill>
        <p:spPr>
          <a:xfrm>
            <a:off x="2404872" y="2048256"/>
            <a:ext cx="219456" cy="219456"/>
          </a:xfrm>
          <a:prstGeom prst="rect">
            <a:avLst/>
          </a:prstGeom>
        </p:spPr>
      </p:pic>
      <p:sp>
        <p:nvSpPr>
          <p:cNvPr id="13" name="Option label 2"/>
          <p:cNvSpPr txBox="1"/>
          <p:nvPr/>
        </p:nvSpPr>
        <p:spPr>
          <a:xfrm>
            <a:off x="2304288" y="2468880"/>
            <a:ext cx="1225296" cy="274320"/>
          </a:xfrm>
          <a:prstGeom prst="rect">
            <a:avLst/>
          </a:prstGeom>
          <a:noFill/>
          <a:ln/>
        </p:spPr>
        <p:txBody>
          <a:bodyPr wrap="square" lIns="0" tIns="0" rIns="0" bIns="0" rtlCol="0" anchor="t"/>
          <a:lstStyle/>
          <a:p>
            <a:pPr indent="0" marL="0">
              <a:buNone/>
            </a:pPr>
            <a:r>
              <a:rPr lang="en-US" sz="1500" b="1" dirty="0">
                <a:solidFill>
                  <a:schemeClr val="bg1"/>
                </a:solidFill>
              </a:rPr>
              <a:t>System prompt</a:t>
            </a:r>
            <a:endParaRPr lang="en-US" sz="1500" dirty="0"/>
          </a:p>
        </p:txBody>
      </p:sp>
      <p:sp>
        <p:nvSpPr>
          <p:cNvPr id="14" name="Option caption 2"/>
          <p:cNvSpPr txBox="1"/>
          <p:nvPr/>
        </p:nvSpPr>
        <p:spPr>
          <a:xfrm>
            <a:off x="2304288" y="2743200"/>
            <a:ext cx="1225296" cy="411480"/>
          </a:xfrm>
          <a:prstGeom prst="rect">
            <a:avLst/>
          </a:prstGeom>
          <a:noFill/>
          <a:ln/>
        </p:spPr>
        <p:txBody>
          <a:bodyPr wrap="square" lIns="0" tIns="0" rIns="0" bIns="0" rtlCol="0" anchor="t"/>
          <a:lstStyle/>
          <a:p>
            <a:pPr indent="0" marL="0">
              <a:buNone/>
            </a:pPr>
            <a:r>
              <a:rPr lang="en-US" sz="1100" dirty="0">
                <a:solidFill>
                  <a:schemeClr val="bg2"/>
                </a:solidFill>
              </a:rPr>
              <a:t>Guide the agent's behavior</a:t>
            </a:r>
            <a:endParaRPr lang="en-US" sz="1100" dirty="0"/>
          </a:p>
        </p:txBody>
      </p:sp>
      <p:sp>
        <p:nvSpPr>
          <p:cNvPr id="15" name="Option card 3"/>
          <p:cNvSpPr/>
          <p:nvPr/>
        </p:nvSpPr>
        <p:spPr>
          <a:xfrm>
            <a:off x="3822192" y="1783080"/>
            <a:ext cx="1499616" cy="1463040"/>
          </a:xfrm>
          <a:prstGeom prst="roundRect">
            <a:avLst>
              <a:gd name="adj" fmla="val 5000"/>
            </a:avLst>
          </a:prstGeom>
          <a:solidFill>
            <a:schemeClr val="tx2"/>
          </a:solidFill>
          <a:ln/>
        </p:spPr>
      </p:sp>
      <p:sp>
        <p:nvSpPr>
          <p:cNvPr id="16" name="Option icon bg 3"/>
          <p:cNvSpPr/>
          <p:nvPr/>
        </p:nvSpPr>
        <p:spPr>
          <a:xfrm>
            <a:off x="3986784" y="1947672"/>
            <a:ext cx="420624" cy="420624"/>
          </a:xfrm>
          <a:prstGeom prst="ellipse">
            <a:avLst/>
          </a:prstGeom>
          <a:solidFill>
            <a:schemeClr val="accent1"/>
          </a:solidFill>
          <a:ln/>
        </p:spPr>
      </p:sp>
      <p:pic>
        <p:nvPicPr>
          <p:cNvPr id="17" name="Option icon 3" descr="Max turns">    </p:cNvPr>
          <p:cNvPicPr>
            <a:picLocks noChangeAspect="1"/>
          </p:cNvPicPr>
          <p:nvPr/>
        </p:nvPicPr>
        <p:blipFill>
          <a:blip r:embed="rId3"/>
          <a:stretch>
            <a:fillRect/>
          </a:stretch>
        </p:blipFill>
        <p:spPr>
          <a:xfrm>
            <a:off x="4087368" y="2048256"/>
            <a:ext cx="219456" cy="219456"/>
          </a:xfrm>
          <a:prstGeom prst="rect">
            <a:avLst/>
          </a:prstGeom>
        </p:spPr>
      </p:pic>
      <p:sp>
        <p:nvSpPr>
          <p:cNvPr id="18" name="Option label 3"/>
          <p:cNvSpPr txBox="1"/>
          <p:nvPr/>
        </p:nvSpPr>
        <p:spPr>
          <a:xfrm>
            <a:off x="3986784" y="2468880"/>
            <a:ext cx="1225296" cy="274320"/>
          </a:xfrm>
          <a:prstGeom prst="rect">
            <a:avLst/>
          </a:prstGeom>
          <a:noFill/>
          <a:ln/>
        </p:spPr>
        <p:txBody>
          <a:bodyPr wrap="square" lIns="0" tIns="0" rIns="0" bIns="0" rtlCol="0" anchor="t"/>
          <a:lstStyle/>
          <a:p>
            <a:pPr indent="0" marL="0">
              <a:buNone/>
            </a:pPr>
            <a:r>
              <a:rPr lang="en-US" sz="1500" b="1" dirty="0">
                <a:solidFill>
                  <a:schemeClr val="bg1"/>
                </a:solidFill>
              </a:rPr>
              <a:t>Max turns</a:t>
            </a:r>
            <a:endParaRPr lang="en-US" sz="1500" dirty="0"/>
          </a:p>
        </p:txBody>
      </p:sp>
      <p:sp>
        <p:nvSpPr>
          <p:cNvPr id="19" name="Option caption 3"/>
          <p:cNvSpPr txBox="1"/>
          <p:nvPr/>
        </p:nvSpPr>
        <p:spPr>
          <a:xfrm>
            <a:off x="3986784" y="2743200"/>
            <a:ext cx="1225296" cy="411480"/>
          </a:xfrm>
          <a:prstGeom prst="rect">
            <a:avLst/>
          </a:prstGeom>
          <a:noFill/>
          <a:ln/>
        </p:spPr>
        <p:txBody>
          <a:bodyPr wrap="square" lIns="0" tIns="0" rIns="0" bIns="0" rtlCol="0" anchor="t"/>
          <a:lstStyle/>
          <a:p>
            <a:pPr indent="0" marL="0">
              <a:buNone/>
            </a:pPr>
            <a:r>
              <a:rPr lang="en-US" sz="1100" dirty="0">
                <a:solidFill>
                  <a:schemeClr val="bg2"/>
                </a:solidFill>
              </a:rPr>
              <a:t>Control how long the loop runs</a:t>
            </a:r>
            <a:endParaRPr lang="en-US" sz="1100" dirty="0"/>
          </a:p>
        </p:txBody>
      </p:sp>
      <p:sp>
        <p:nvSpPr>
          <p:cNvPr id="20" name="Option card 4"/>
          <p:cNvSpPr/>
          <p:nvPr/>
        </p:nvSpPr>
        <p:spPr>
          <a:xfrm>
            <a:off x="5504688" y="1783080"/>
            <a:ext cx="1499616" cy="1463040"/>
          </a:xfrm>
          <a:prstGeom prst="roundRect">
            <a:avLst>
              <a:gd name="adj" fmla="val 5000"/>
            </a:avLst>
          </a:prstGeom>
          <a:solidFill>
            <a:schemeClr val="tx2"/>
          </a:solidFill>
          <a:ln/>
        </p:spPr>
      </p:sp>
      <p:sp>
        <p:nvSpPr>
          <p:cNvPr id="21" name="Option icon bg 4"/>
          <p:cNvSpPr/>
          <p:nvPr/>
        </p:nvSpPr>
        <p:spPr>
          <a:xfrm>
            <a:off x="5669280" y="1947672"/>
            <a:ext cx="420624" cy="420624"/>
          </a:xfrm>
          <a:prstGeom prst="ellipse">
            <a:avLst/>
          </a:prstGeom>
          <a:solidFill>
            <a:schemeClr val="accent1"/>
          </a:solidFill>
          <a:ln/>
        </p:spPr>
      </p:sp>
      <p:pic>
        <p:nvPicPr>
          <p:cNvPr id="22" name="Option icon 4" descr="Budget">    </p:cNvPr>
          <p:cNvPicPr>
            <a:picLocks noChangeAspect="1"/>
          </p:cNvPicPr>
          <p:nvPr/>
        </p:nvPicPr>
        <p:blipFill>
          <a:blip r:embed="rId4"/>
          <a:stretch>
            <a:fillRect/>
          </a:stretch>
        </p:blipFill>
        <p:spPr>
          <a:xfrm>
            <a:off x="5769864" y="2048256"/>
            <a:ext cx="219456" cy="219456"/>
          </a:xfrm>
          <a:prstGeom prst="rect">
            <a:avLst/>
          </a:prstGeom>
        </p:spPr>
      </p:pic>
      <p:sp>
        <p:nvSpPr>
          <p:cNvPr id="23" name="Option label 4"/>
          <p:cNvSpPr txBox="1"/>
          <p:nvPr/>
        </p:nvSpPr>
        <p:spPr>
          <a:xfrm>
            <a:off x="5669280" y="2468880"/>
            <a:ext cx="1225296" cy="274320"/>
          </a:xfrm>
          <a:prstGeom prst="rect">
            <a:avLst/>
          </a:prstGeom>
          <a:noFill/>
          <a:ln/>
        </p:spPr>
        <p:txBody>
          <a:bodyPr wrap="square" lIns="0" tIns="0" rIns="0" bIns="0" rtlCol="0" anchor="t"/>
          <a:lstStyle/>
          <a:p>
            <a:pPr indent="0" marL="0">
              <a:buNone/>
            </a:pPr>
            <a:r>
              <a:rPr lang="en-US" sz="1500" b="1" dirty="0">
                <a:solidFill>
                  <a:schemeClr val="bg1"/>
                </a:solidFill>
              </a:rPr>
              <a:t>Budget</a:t>
            </a:r>
            <a:endParaRPr lang="en-US" sz="1500" dirty="0"/>
          </a:p>
        </p:txBody>
      </p:sp>
      <p:sp>
        <p:nvSpPr>
          <p:cNvPr id="24" name="Option caption 4"/>
          <p:cNvSpPr txBox="1"/>
          <p:nvPr/>
        </p:nvSpPr>
        <p:spPr>
          <a:xfrm>
            <a:off x="5669280" y="2743200"/>
            <a:ext cx="1225296" cy="411480"/>
          </a:xfrm>
          <a:prstGeom prst="rect">
            <a:avLst/>
          </a:prstGeom>
          <a:noFill/>
          <a:ln/>
        </p:spPr>
        <p:txBody>
          <a:bodyPr wrap="square" lIns="0" tIns="0" rIns="0" bIns="0" rtlCol="0" anchor="t"/>
          <a:lstStyle/>
          <a:p>
            <a:pPr indent="0" marL="0">
              <a:buNone/>
            </a:pPr>
            <a:r>
              <a:rPr lang="en-US" sz="1100" dirty="0">
                <a:solidFill>
                  <a:schemeClr val="bg2"/>
                </a:solidFill>
              </a:rPr>
              <a:t>Cap what a run can spend</a:t>
            </a:r>
            <a:endParaRPr lang="en-US" sz="1100" dirty="0"/>
          </a:p>
        </p:txBody>
      </p:sp>
      <p:sp>
        <p:nvSpPr>
          <p:cNvPr id="25" name="Option card 5"/>
          <p:cNvSpPr/>
          <p:nvPr/>
        </p:nvSpPr>
        <p:spPr>
          <a:xfrm>
            <a:off x="7187184" y="1783080"/>
            <a:ext cx="1499616" cy="1463040"/>
          </a:xfrm>
          <a:prstGeom prst="roundRect">
            <a:avLst>
              <a:gd name="adj" fmla="val 5000"/>
            </a:avLst>
          </a:prstGeom>
          <a:solidFill>
            <a:schemeClr val="tx2"/>
          </a:solidFill>
          <a:ln/>
        </p:spPr>
      </p:sp>
      <p:sp>
        <p:nvSpPr>
          <p:cNvPr id="26" name="Option icon bg 5"/>
          <p:cNvSpPr/>
          <p:nvPr/>
        </p:nvSpPr>
        <p:spPr>
          <a:xfrm>
            <a:off x="7351776" y="1947672"/>
            <a:ext cx="420624" cy="420624"/>
          </a:xfrm>
          <a:prstGeom prst="ellipse">
            <a:avLst/>
          </a:prstGeom>
          <a:solidFill>
            <a:schemeClr val="accent1"/>
          </a:solidFill>
          <a:ln/>
        </p:spPr>
      </p:sp>
      <p:pic>
        <p:nvPicPr>
          <p:cNvPr id="27" name="Option icon 5" descr="Streaming">    </p:cNvPr>
          <p:cNvPicPr>
            <a:picLocks noChangeAspect="1"/>
          </p:cNvPicPr>
          <p:nvPr/>
        </p:nvPicPr>
        <p:blipFill>
          <a:blip r:embed="rId5"/>
          <a:stretch>
            <a:fillRect/>
          </a:stretch>
        </p:blipFill>
        <p:spPr>
          <a:xfrm>
            <a:off x="7452360" y="2048256"/>
            <a:ext cx="219456" cy="219456"/>
          </a:xfrm>
          <a:prstGeom prst="rect">
            <a:avLst/>
          </a:prstGeom>
        </p:spPr>
      </p:pic>
      <p:sp>
        <p:nvSpPr>
          <p:cNvPr id="28" name="Option label 5"/>
          <p:cNvSpPr txBox="1"/>
          <p:nvPr/>
        </p:nvSpPr>
        <p:spPr>
          <a:xfrm>
            <a:off x="7351776" y="2468880"/>
            <a:ext cx="1225296" cy="274320"/>
          </a:xfrm>
          <a:prstGeom prst="rect">
            <a:avLst/>
          </a:prstGeom>
          <a:noFill/>
          <a:ln/>
        </p:spPr>
        <p:txBody>
          <a:bodyPr wrap="square" lIns="0" tIns="0" rIns="0" bIns="0" rtlCol="0" anchor="t"/>
          <a:lstStyle/>
          <a:p>
            <a:pPr indent="0" marL="0">
              <a:buNone/>
            </a:pPr>
            <a:r>
              <a:rPr lang="en-US" sz="1500" b="1" dirty="0">
                <a:solidFill>
                  <a:schemeClr val="bg1"/>
                </a:solidFill>
              </a:rPr>
              <a:t>Streaming</a:t>
            </a:r>
            <a:endParaRPr lang="en-US" sz="1500" dirty="0"/>
          </a:p>
        </p:txBody>
      </p:sp>
      <p:sp>
        <p:nvSpPr>
          <p:cNvPr id="29" name="Option caption 5"/>
          <p:cNvSpPr txBox="1"/>
          <p:nvPr/>
        </p:nvSpPr>
        <p:spPr>
          <a:xfrm>
            <a:off x="7351776" y="2743200"/>
            <a:ext cx="1225296" cy="411480"/>
          </a:xfrm>
          <a:prstGeom prst="rect">
            <a:avLst/>
          </a:prstGeom>
          <a:noFill/>
          <a:ln/>
        </p:spPr>
        <p:txBody>
          <a:bodyPr wrap="square" lIns="0" tIns="0" rIns="0" bIns="0" rtlCol="0" anchor="t"/>
          <a:lstStyle/>
          <a:p>
            <a:pPr indent="0" marL="0">
              <a:buNone/>
            </a:pPr>
            <a:r>
              <a:rPr lang="en-US" sz="1100" dirty="0">
                <a:solidFill>
                  <a:schemeClr val="bg2"/>
                </a:solidFill>
              </a:rPr>
              <a:t>Choose how output arrives</a:t>
            </a:r>
            <a:endParaRPr lang="en-US" sz="1100" dirty="0"/>
          </a:p>
        </p:txBody>
      </p:sp>
      <p:sp>
        <p:nvSpPr>
          <p:cNvPr id="30" name="Step 1"/>
          <p:cNvSpPr/>
          <p:nvPr/>
        </p:nvSpPr>
        <p:spPr>
          <a:xfrm>
            <a:off x="457200" y="3566160"/>
            <a:ext cx="2286000" cy="1051560"/>
          </a:xfrm>
          <a:prstGeom prst="roundRect">
            <a:avLst>
              <a:gd name="adj" fmla="val 6957"/>
            </a:avLst>
          </a:prstGeom>
          <a:solidFill>
            <a:schemeClr val="tx1"/>
          </a:solidFill>
          <a:ln w="15875">
            <a:solidFill>
              <a:schemeClr val="accent3"/>
            </a:solidFill>
            <a:prstDash val="solid"/>
          </a:ln>
        </p:spPr>
      </p:sp>
      <p:sp>
        <p:nvSpPr>
          <p:cNvPr id="31" name="Step number 1"/>
          <p:cNvSpPr txBox="1"/>
          <p:nvPr/>
        </p:nvSpPr>
        <p:spPr>
          <a:xfrm>
            <a:off x="640080" y="3730752"/>
            <a:ext cx="457200" cy="45720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a:t>
            </a:r>
            <a:endParaRPr lang="en-US" sz="3000" dirty="0"/>
          </a:p>
        </p:txBody>
      </p:sp>
      <p:sp>
        <p:nvSpPr>
          <p:cNvPr id="32" name="Step text 1"/>
          <p:cNvSpPr txBox="1"/>
          <p:nvPr/>
        </p:nvSpPr>
        <p:spPr>
          <a:xfrm>
            <a:off x="1097280" y="3703320"/>
            <a:ext cx="1508760" cy="777240"/>
          </a:xfrm>
          <a:prstGeom prst="rect">
            <a:avLst/>
          </a:prstGeom>
          <a:noFill/>
          <a:ln/>
        </p:spPr>
        <p:txBody>
          <a:bodyPr wrap="square" lIns="0" tIns="0" rIns="0" bIns="0" rtlCol="0" anchor="ctr"/>
          <a:lstStyle/>
          <a:p>
            <a:pPr indent="0" marL="0">
              <a:spcAft>
                <a:spcPts val="300"/>
              </a:spcAft>
              <a:buNone/>
            </a:pPr>
            <a:r>
              <a:rPr lang="en-US" sz="1500" b="1" dirty="0">
                <a:solidFill>
                  <a:schemeClr val="bg1"/>
                </a:solidFill>
              </a:rPr>
              <a:t>Start with the defaults</a:t>
            </a:r>
            <a:endParaRPr lang="en-US" sz="1500" dirty="0"/>
          </a:p>
        </p:txBody>
      </p:sp>
      <p:sp>
        <p:nvSpPr>
          <p:cNvPr id="33" name="Arrow 1"/>
          <p:cNvSpPr/>
          <p:nvPr/>
        </p:nvSpPr>
        <p:spPr>
          <a:xfrm>
            <a:off x="2926080" y="3954780"/>
            <a:ext cx="320040" cy="274320"/>
          </a:xfrm>
          <a:prstGeom prst="rightArrow">
            <a:avLst/>
          </a:prstGeom>
          <a:solidFill>
            <a:schemeClr val="accent1"/>
          </a:solidFill>
          <a:ln/>
        </p:spPr>
      </p:sp>
      <p:sp>
        <p:nvSpPr>
          <p:cNvPr id="34" name="Step 2"/>
          <p:cNvSpPr/>
          <p:nvPr/>
        </p:nvSpPr>
        <p:spPr>
          <a:xfrm>
            <a:off x="3429000" y="3566160"/>
            <a:ext cx="2286000" cy="1051560"/>
          </a:xfrm>
          <a:prstGeom prst="roundRect">
            <a:avLst>
              <a:gd name="adj" fmla="val 6957"/>
            </a:avLst>
          </a:prstGeom>
          <a:solidFill>
            <a:schemeClr val="tx1"/>
          </a:solidFill>
          <a:ln w="15875">
            <a:solidFill>
              <a:schemeClr val="accent3"/>
            </a:solidFill>
            <a:prstDash val="solid"/>
          </a:ln>
        </p:spPr>
      </p:sp>
      <p:sp>
        <p:nvSpPr>
          <p:cNvPr id="35" name="Step number 2"/>
          <p:cNvSpPr txBox="1"/>
          <p:nvPr/>
        </p:nvSpPr>
        <p:spPr>
          <a:xfrm>
            <a:off x="3611880" y="3730752"/>
            <a:ext cx="457200" cy="45720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36" name="Step text 2"/>
          <p:cNvSpPr txBox="1"/>
          <p:nvPr/>
        </p:nvSpPr>
        <p:spPr>
          <a:xfrm>
            <a:off x="4069080" y="3703320"/>
            <a:ext cx="1508760" cy="777240"/>
          </a:xfrm>
          <a:prstGeom prst="rect">
            <a:avLst/>
          </a:prstGeom>
          <a:noFill/>
          <a:ln/>
        </p:spPr>
        <p:txBody>
          <a:bodyPr wrap="square" lIns="0" tIns="0" rIns="0" bIns="0" rtlCol="0" anchor="ctr"/>
          <a:lstStyle/>
          <a:p>
            <a:pPr indent="0" marL="0">
              <a:spcAft>
                <a:spcPts val="300"/>
              </a:spcAft>
              <a:buNone/>
            </a:pPr>
            <a:r>
              <a:rPr lang="en-US" sz="1500" b="1" dirty="0">
                <a:solidFill>
                  <a:schemeClr val="bg1"/>
                </a:solidFill>
              </a:rPr>
              <a:t>Add options deliberately</a:t>
            </a:r>
            <a:endParaRPr lang="en-US" sz="1500" dirty="0"/>
          </a:p>
        </p:txBody>
      </p:sp>
      <p:sp>
        <p:nvSpPr>
          <p:cNvPr id="37" name="Arrow 2"/>
          <p:cNvSpPr/>
          <p:nvPr/>
        </p:nvSpPr>
        <p:spPr>
          <a:xfrm>
            <a:off x="5897880" y="3954780"/>
            <a:ext cx="320040" cy="274320"/>
          </a:xfrm>
          <a:prstGeom prst="rightArrow">
            <a:avLst/>
          </a:prstGeom>
          <a:solidFill>
            <a:schemeClr val="accent1"/>
          </a:solidFill>
          <a:ln/>
        </p:spPr>
      </p:sp>
      <p:sp>
        <p:nvSpPr>
          <p:cNvPr id="38" name="Step 3"/>
          <p:cNvSpPr/>
          <p:nvPr/>
        </p:nvSpPr>
        <p:spPr>
          <a:xfrm>
            <a:off x="6400800" y="3566160"/>
            <a:ext cx="2286000" cy="1051560"/>
          </a:xfrm>
          <a:prstGeom prst="roundRect">
            <a:avLst>
              <a:gd name="adj" fmla="val 6957"/>
            </a:avLst>
          </a:prstGeom>
          <a:solidFill>
            <a:schemeClr val="accent2"/>
          </a:solidFill>
          <a:ln/>
        </p:spPr>
      </p:sp>
      <p:sp>
        <p:nvSpPr>
          <p:cNvPr id="39" name="Step number 3"/>
          <p:cNvSpPr txBox="1"/>
          <p:nvPr/>
        </p:nvSpPr>
        <p:spPr>
          <a:xfrm>
            <a:off x="6583680" y="3730752"/>
            <a:ext cx="457200" cy="45720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3</a:t>
            </a:r>
            <a:endParaRPr lang="en-US" sz="3000" dirty="0"/>
          </a:p>
        </p:txBody>
      </p:sp>
      <p:sp>
        <p:nvSpPr>
          <p:cNvPr id="40" name="Step text 3"/>
          <p:cNvSpPr txBox="1"/>
          <p:nvPr/>
        </p:nvSpPr>
        <p:spPr>
          <a:xfrm>
            <a:off x="7040880" y="3703320"/>
            <a:ext cx="1508760" cy="777240"/>
          </a:xfrm>
          <a:prstGeom prst="rect">
            <a:avLst/>
          </a:prstGeom>
          <a:noFill/>
          <a:ln/>
        </p:spPr>
        <p:txBody>
          <a:bodyPr wrap="square" lIns="0" tIns="0" rIns="0" bIns="0" rtlCol="0" anchor="ctr"/>
          <a:lstStyle/>
          <a:p>
            <a:pPr indent="0" marL="0">
              <a:spcAft>
                <a:spcPts val="300"/>
              </a:spcAft>
              <a:buNone/>
            </a:pPr>
            <a:r>
              <a:rPr lang="en-US" sz="1500" b="1" dirty="0">
                <a:solidFill>
                  <a:schemeClr val="tx1"/>
                </a:solidFill>
              </a:rPr>
              <a:t>Always expose the result data</a:t>
            </a:r>
            <a:endParaRPr lang="en-US" sz="1500" dirty="0"/>
          </a:p>
          <a:p>
            <a:pPr indent="0" marL="0">
              <a:spcAft>
                <a:spcPts val="300"/>
              </a:spcAft>
              <a:buNone/>
            </a:pPr>
            <a:r>
              <a:rPr lang="en-US" sz="1100" dirty="0">
                <a:solidFill>
                  <a:schemeClr val="tx1"/>
                </a:solidFill>
              </a:rPr>
              <a:t>cost · duration · outcome of every run</a:t>
            </a:r>
            <a:endParaRPr lang="en-US" sz="1500" dirty="0"/>
          </a:p>
        </p:txBody>
      </p:sp>
    </p:spTree>
  </p:cSld>
  <p:clrMapOvr>
    <a:masterClrMapping/>
  </p:clrMapOvr>
</p:sld>
</file>

<file path=ppt/theme/theme1.xml><?xml version="1.0" encoding="utf-8"?>
<a:theme xmlns:a="http://schemas.openxmlformats.org/drawingml/2006/main" name="Control Panel">
  <a:themeElements>
    <a:clrScheme name="Control Panel">
      <a:dk1>
        <a:srgbClr val="1C1F26"/>
      </a:dk1>
      <a:lt1>
        <a:srgbClr val="FFFFFF"/>
      </a:lt1>
      <a:dk2>
        <a:srgbClr val="2A2F3A"/>
      </a:dk2>
      <a:lt2>
        <a:srgbClr val="A7AEBB"/>
      </a:lt2>
      <a:accent1>
        <a:srgbClr val="F5A524"/>
      </a:accent1>
      <a:accent2>
        <a:srgbClr val="5EE6B8"/>
      </a:accent2>
      <a:accent3>
        <a:srgbClr val="343A47"/>
      </a:accent3>
      <a:accent4>
        <a:srgbClr val="E7E9EE"/>
      </a:accent4>
      <a:accent5>
        <a:srgbClr val="8B93A3"/>
      </a:accent5>
      <a:accent6>
        <a:srgbClr val="C9772B"/>
      </a:accent6>
      <a:hlink>
        <a:srgbClr val="5EE6B8"/>
      </a:hlink>
      <a:folHlink>
        <a:srgbClr val="A7AEBB"/>
      </a:folHlink>
    </a:clrScheme>
    <a:fontScheme name="Control Pan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takeaway: options make a query controllable</dc:title>
  <dc:subject>PptxGenJS Presentation</dc:subject>
  <dc:creator>PptxGenJS</dc:creator>
  <cp:lastModifiedBy>PptxGenJS</cp:lastModifiedBy>
  <cp:revision>1</cp:revision>
  <dcterms:created xsi:type="dcterms:W3CDTF">2026-10-05T12:09:34Z</dcterms:created>
  <dcterms:modified xsi:type="dcterms:W3CDTF">2026-10-05T12:09:34Z</dcterms:modified>
</cp:coreProperties>
</file>